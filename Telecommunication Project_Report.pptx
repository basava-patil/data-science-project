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08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369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27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885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5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40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03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1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38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395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38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1128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428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150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357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58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37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3BE21C-0B7B-4B54-A40F-AF88C93E4748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C8495-22B5-4AC8-A971-19B506D66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290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B68B-6BE7-B09C-CF01-9A11CF9F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889809" cy="1223682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Machine Learning Project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Customer Churn Analysis and Prediction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503AF-007E-ADE9-04D6-0960137C6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2103120"/>
            <a:ext cx="9572333" cy="414527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aims to analyze customer churn in a telecommunications company and develop predictive models to identify at-risk customers. The ultimate goal is to provide actionable insights and recommendations to reduce churn and improve customer retention.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09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CDA7-0E44-5B9B-FCC8-65BB7FBA4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488" y="314134"/>
            <a:ext cx="9055580" cy="632820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Title:- Customer Churn Analysis and Prediction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29E11C-4770-2C43-AEFB-DE2BC93EF5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9488" y="991203"/>
            <a:ext cx="11575312" cy="6141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Domain: Telecommunications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Predict customers likely to churn and provide retention strategies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Python, Pandas, NumPy, Matplotlib, Seaborn, Scikit-learn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&amp; objective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l">
              <a:buFont typeface="Wingdings" panose="05000000000000000000" pitchFamily="2" charset="2"/>
              <a:buChar char="§"/>
            </a:pP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leads to revenue loss</a:t>
            </a:r>
          </a:p>
          <a:p>
            <a:pPr marL="1200150" lvl="2" indent="-285750" algn="l">
              <a:buFont typeface="Wingdings" panose="05000000000000000000" pitchFamily="2" charset="2"/>
              <a:buChar char="§"/>
            </a:pP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Acquiring new customers is costlier than retaining existing ones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18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behavior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factors influencing churn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churn customers using ML models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business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86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D860-CF4A-A5AD-A6F3-4A7488896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31" y="144027"/>
            <a:ext cx="9837474" cy="7144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Overview, Data Cleaning &amp; Preparation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F79CE194-4D5F-839D-2CBE-BD1CCBDCB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931" y="279780"/>
            <a:ext cx="11938069" cy="6531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irrelevant column: customer-ID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Total Charges to numeric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variables (One-Hot Encoding)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target variable Churn to binary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Important?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 improves model accuracy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require numerical inputs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1B8EEB-395E-9115-A576-86E9EF17E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931" y="858439"/>
            <a:ext cx="6583749" cy="214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Account Info: Tenure, Contract, Payment Method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Services: Internet Service, Tech Support, Online Security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Billing: Monthly Charges, Total Charges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Churn (Yes / No)</a:t>
            </a:r>
          </a:p>
        </p:txBody>
      </p:sp>
    </p:spTree>
    <p:extLst>
      <p:ext uri="{BB962C8B-B14F-4D97-AF65-F5344CB8AC3E}">
        <p14:creationId xmlns:p14="http://schemas.microsoft.com/office/powerpoint/2010/main" val="39249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2A5E-E82A-D49A-7F5C-0D3FC7A0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042175" cy="701168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D7137-A68A-398A-B81C-69E3D7093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317172"/>
            <a:ext cx="6176113" cy="4931228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Churn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imbalanced (more non-churn customers)</a:t>
            </a: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alone is misleading → recall is critical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Insights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CCD079-F765-68F6-8EC7-8B4589D84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1" y="3308903"/>
            <a:ext cx="5976316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churn more than long-term 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contracts have highest churn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Monthly Charges → higher churn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churn more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without partners/dependents churn more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9563EF-C6FF-2EB7-2381-A2C56F41A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469" y="0"/>
            <a:ext cx="5303531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DF4156-2D8D-555A-11B8-EBAF70EF9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468" y="3537857"/>
            <a:ext cx="5303531" cy="332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06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EB85-FCA8-0EE5-1511-DD187D20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55" y="158804"/>
            <a:ext cx="9205460" cy="744711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801E2-7F53-3C39-1159-9B83BDB62AAC}"/>
              </a:ext>
            </a:extLst>
          </p:cNvPr>
          <p:cNvSpPr txBox="1"/>
          <p:nvPr/>
        </p:nvSpPr>
        <p:spPr>
          <a:xfrm>
            <a:off x="381000" y="770224"/>
            <a:ext cx="10112828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Features Used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Features?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Created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1ABBA5-290B-66C8-6325-E16A083D3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43" y="3055465"/>
            <a:ext cx="4953000" cy="1421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Tenure → customer loyalty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→ customer value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 → commitment level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322DF30-9E82-F1F8-B650-2607D57E0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485" y="4916920"/>
            <a:ext cx="3554178" cy="1421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vs Long-term 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vs High-value 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Contract-based segments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CE5334-E7C4-D05B-B1E8-CC13C02CD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920" y="65070"/>
            <a:ext cx="5221234" cy="34007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CEB9E7-DAF5-4FB8-3735-91932BD51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69" y="3559506"/>
            <a:ext cx="5303531" cy="323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1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FB1D-611B-B885-2AAC-246769A5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54" y="275345"/>
            <a:ext cx="9404723" cy="668511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Customer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A878-A9BD-9F70-2EB3-44A27A3DE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108" y="1094975"/>
            <a:ext cx="8946541" cy="4195481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Definition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Monthly Charges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/ medium tenure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churn probability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targeted retention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revenue loss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128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8037-6E84-533F-0BB7-DED40907A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11" y="235004"/>
            <a:ext cx="9404723" cy="701169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Prediction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E7ADB-6E07-A496-DBBA-8C3B4B9E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293" y="1051432"/>
            <a:ext cx="8946541" cy="557156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Implemented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685800"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685800"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685800"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  <a:p>
            <a:pPr marL="685800"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(MOST IMPORTANT)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48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D9E75-1920-E10F-2570-000CD55C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98289"/>
            <a:ext cx="9404723" cy="755596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254001-394C-C605-90A4-AB7144C16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5217181"/>
              </p:ext>
            </p:extLst>
          </p:nvPr>
        </p:nvGraphicFramePr>
        <p:xfrm>
          <a:off x="646111" y="1635760"/>
          <a:ext cx="9825945" cy="3860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5315">
                  <a:extLst>
                    <a:ext uri="{9D8B030D-6E8A-4147-A177-3AD203B41FA5}">
                      <a16:colId xmlns:a16="http://schemas.microsoft.com/office/drawing/2014/main" val="2469221701"/>
                    </a:ext>
                  </a:extLst>
                </a:gridCol>
                <a:gridCol w="3275315">
                  <a:extLst>
                    <a:ext uri="{9D8B030D-6E8A-4147-A177-3AD203B41FA5}">
                      <a16:colId xmlns:a16="http://schemas.microsoft.com/office/drawing/2014/main" val="3146221028"/>
                    </a:ext>
                  </a:extLst>
                </a:gridCol>
                <a:gridCol w="3275315">
                  <a:extLst>
                    <a:ext uri="{9D8B030D-6E8A-4147-A177-3AD203B41FA5}">
                      <a16:colId xmlns:a16="http://schemas.microsoft.com/office/drawing/2014/main" val="939626323"/>
                    </a:ext>
                  </a:extLst>
                </a:gridCol>
              </a:tblGrid>
              <a:tr h="799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(Churn)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42306"/>
                  </a:ext>
                </a:extLst>
              </a:tr>
              <a:tr h="612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615356"/>
                  </a:ext>
                </a:extLst>
              </a:tr>
              <a:tr h="612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565957"/>
                  </a:ext>
                </a:extLst>
              </a:tr>
              <a:tr h="612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49–52%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388015"/>
                  </a:ext>
                </a:extLst>
              </a:tr>
              <a:tr h="612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851272"/>
                  </a:ext>
                </a:extLst>
              </a:tr>
              <a:tr h="612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68%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111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99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BC58-48BC-6ADC-B3DD-53930BFAC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11" y="280788"/>
            <a:ext cx="9404723" cy="657625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416CA-AD04-EED1-C7BB-395525C2B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11" y="1247375"/>
            <a:ext cx="10108975" cy="504456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Final Model: XGBoost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XGBoost?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recall for churn customers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maximum at-risk customers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non-linear patterns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Industry-preferred churn model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Rule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churn prediction, recall is more important than accuracy.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554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F8636-611D-DB43-446B-3BA53654D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83" y="202347"/>
            <a:ext cx="9404723" cy="646739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Interpretation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1E3FF-DEF3-6A21-BCE0-F81BA1F9E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83" y="1084089"/>
            <a:ext cx="11230203" cy="5571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Techniques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Score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&amp; AUC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shows trade-off between True Positive Rate &amp; False Positive Rate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measures model’s ability to separate churn vs non-churn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(Key Drivers)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089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A56BC-E6B4-E7CD-6C1E-EB7E0E4F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11" y="235004"/>
            <a:ext cx="9404723" cy="516111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 &amp; Business Impact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30D33-E553-AEAB-E25A-34CE86026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12" y="997004"/>
            <a:ext cx="10206945" cy="5625992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Strategies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discounts to high-risk, high-value customers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month-to-month users to switch to long-term contracts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payment experience for electronic check users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engagement programs for new customers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churn rate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customer lifetime value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marketing spend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retention instead of reactive actions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127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F3F7-EFF0-F2FA-6FBD-7C289800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8138660" cy="690282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7F5A7-4FA3-2616-8ECA-4ADC04789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295400"/>
            <a:ext cx="9403741" cy="49529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analyzed customer churn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churn drivers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multiple ML models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XGBoost as best model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actionable business insights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enables the business t</a:t>
            </a:r>
            <a:r>
              <a:rPr lang="en-US" dirty="0"/>
              <a:t>o proactively identify at-risk customers and reduce revenue loss.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746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398</TotalTime>
  <Words>590</Words>
  <Application>Microsoft Office PowerPoint</Application>
  <PresentationFormat>Widescreen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Times New Roman</vt:lpstr>
      <vt:lpstr>Wingdings</vt:lpstr>
      <vt:lpstr>Wingdings 3</vt:lpstr>
      <vt:lpstr>Ion</vt:lpstr>
      <vt:lpstr>Data Science Machine Learning Project  Project Title: Customer Churn Analysis and Prediction</vt:lpstr>
      <vt:lpstr>Project Title:- Customer Churn Analysis and Prediction</vt:lpstr>
      <vt:lpstr>Data Overview, Data Cleaning &amp; Preparation </vt:lpstr>
      <vt:lpstr>Exploratory Data Analysis</vt:lpstr>
      <vt:lpstr>Customer Segmentation</vt:lpstr>
      <vt:lpstr>High-Risk Customer Identification</vt:lpstr>
      <vt:lpstr>Churn Prediction Models</vt:lpstr>
      <vt:lpstr>Model Comparison</vt:lpstr>
      <vt:lpstr>Best Model Selection</vt:lpstr>
      <vt:lpstr>Model Evaluation &amp; Interpretation </vt:lpstr>
      <vt:lpstr>Business Recommendations &amp; Business Impact Estimation</vt:lpstr>
      <vt:lpstr>Final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basanagoudasp02@gmail.com</dc:creator>
  <cp:lastModifiedBy>basanagoudasp02@gmail.com</cp:lastModifiedBy>
  <cp:revision>3</cp:revision>
  <dcterms:created xsi:type="dcterms:W3CDTF">2025-12-18T14:34:26Z</dcterms:created>
  <dcterms:modified xsi:type="dcterms:W3CDTF">2025-12-19T07:39:25Z</dcterms:modified>
</cp:coreProperties>
</file>